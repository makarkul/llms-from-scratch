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1463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4400" b="1" i="0">
                <a:solidFill>
                  <a:srgbClr val="F2F4F8"/>
                </a:solidFill>
                <a:latin typeface="Calibri"/>
              </a:rPr>
              <a:t>Sinusoid Recovery with a Tiny Transformer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515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0" i="0">
                <a:solidFill>
                  <a:srgbClr val="CADCFC"/>
                </a:solidFill>
                <a:latin typeface="Calibri"/>
              </a:rPr>
              <a:t>A DSP-to-Transformer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120640"/>
            <a:ext cx="10058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97ACC7"/>
                </a:solidFill>
                <a:latin typeface="Calibri"/>
              </a:rPr>
              <a:t>Design notes: AR modeling, attention, and channel-coding intuitions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065A82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Classical DSP and transformers — the same job?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5394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C7293"/>
                </a:solidFill>
                <a:latin typeface="Calibri"/>
              </a:rPr>
              <a:t>Classical DSP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5394960" cy="3657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Fit AR / MA / ARMA models to a time series</a:t>
            </a:r>
          </a:p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PACF determines the AR order p</a:t>
            </a:r>
          </a:p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Coefficients fit by Yule-Walker or least squares</a:t>
            </a:r>
          </a:p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Prediction = linear combination of past samples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394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C7293"/>
                </a:solidFill>
                <a:latin typeface="Calibri"/>
              </a:rPr>
              <a:t>Transformer 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394960" cy="3657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Train to predict next sample from a context</a:t>
            </a:r>
          </a:p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Self-attention weights pick which lags matter</a:t>
            </a:r>
          </a:p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Coefficients learned via gradient descent</a:t>
            </a:r>
          </a:p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Thesis: attention should rediscover AR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577840"/>
            <a:ext cx="105156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065A82"/>
                </a:solidFill>
                <a:latin typeface="Calibri"/>
              </a:rPr>
              <a:t>If the thesis holds, a tiny transformer is just an AR model in disguise.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065A82"/>
                </a:solidFill>
                <a:latin typeface="Calibri"/>
              </a:rPr>
              <a:t>Key DSP 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A sinusoid is exactly an AR(2) process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103120"/>
            <a:ext cx="9418320" cy="146304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331720"/>
            <a:ext cx="9418320" cy="10058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3200" b="1" i="0">
                <a:solidFill>
                  <a:srgbClr val="F2F4F8"/>
                </a:solidFill>
                <a:latin typeface="Calibri"/>
              </a:rPr>
              <a:t>x[n] = 2 cos(w0) · x[n-1]  −  x[n-2]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931920"/>
            <a:ext cx="10515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C7293"/>
                </a:solidFill>
                <a:latin typeface="Calibri"/>
              </a:rPr>
              <a:t>What this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89120"/>
            <a:ext cx="10515600" cy="22860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• Only two past samples carry information — lag-1 and lag-2</a:t>
            </a:r>
          </a:p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• The single coefficient  2 cos(w0)  encodes frequency</a:t>
            </a:r>
          </a:p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• The model needs only 2 effective taps, regardless of freq</a:t>
            </a:r>
          </a:p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• This sets a hard lower bound on how tiny the network can be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065A82"/>
                </a:solidFill>
                <a:latin typeface="Calibri"/>
              </a:rPr>
              <a:t>Problem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Noisy sinusoid → clean next-sample prediction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37360"/>
          <a:ext cx="106070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535680"/>
                <a:gridCol w="44196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Value / Range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 – 20 Hz (uniform)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Randomized per sequence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Amplitude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 – 2.0 (uniform)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Randomized per sequence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 – 2π (uniform)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Randomized per sequence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Sampling rate fs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 Hz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Fixed, well above Nyquist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Amplitude noise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σ = 0.2 (Gaussian)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Corrupts amplitude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Phase noise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σ = 0.1 rad (Gaussian)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Corrupts phase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Context length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128 samples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≈ 1 period at f_min = 1 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943600"/>
            <a:ext cx="105156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065A82"/>
                </a:solidFill>
                <a:latin typeface="Calibri"/>
              </a:rPr>
              <a:t>Task: given 128 noisy samples, predict the next clean sample — at every position.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065A82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Scalar in → embed → 2 transformer blocks → scalar 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286000"/>
            <a:ext cx="1508760" cy="1188720"/>
          </a:xfrm>
          <a:prstGeom prst="roundRect">
            <a:avLst/>
          </a:prstGeom>
          <a:solidFill>
            <a:srgbClr val="B8C7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Scalar</a:t>
            </a:r>
          </a:p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sample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920240" y="2743200"/>
            <a:ext cx="164592" cy="274320"/>
          </a:xfrm>
          <a:prstGeom prst="rightArrow">
            <a:avLst/>
          </a:prstGeom>
          <a:solidFill>
            <a:srgbClr val="555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084832" y="2286000"/>
            <a:ext cx="1508760" cy="118872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1">
                <a:solidFill>
                  <a:srgbClr val="F2F4F8"/>
                </a:solidFill>
                <a:latin typeface="Calibri"/>
              </a:rPr>
              <a:t>Linear(1,32)</a:t>
            </a:r>
          </a:p>
          <a:p>
            <a:pPr algn="ctr"/>
            <a:r>
              <a:rPr sz="1200" b="1">
                <a:solidFill>
                  <a:srgbClr val="F2F4F8"/>
                </a:solidFill>
                <a:latin typeface="Calibri"/>
              </a:rPr>
              <a:t>input proj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593592" y="2743200"/>
            <a:ext cx="164592" cy="274320"/>
          </a:xfrm>
          <a:prstGeom prst="rightArrow">
            <a:avLst/>
          </a:prstGeom>
          <a:solidFill>
            <a:srgbClr val="555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58184" y="2286000"/>
            <a:ext cx="1508760" cy="118872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1">
                <a:solidFill>
                  <a:srgbClr val="F2F4F8"/>
                </a:solidFill>
                <a:latin typeface="Calibri"/>
              </a:rPr>
              <a:t>+ pos emb</a:t>
            </a:r>
          </a:p>
          <a:p>
            <a:pPr algn="ctr"/>
            <a:r>
              <a:rPr sz="1200" b="1">
                <a:solidFill>
                  <a:srgbClr val="F2F4F8"/>
                </a:solidFill>
                <a:latin typeface="Calibri"/>
              </a:rPr>
              <a:t>(128×32)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266944" y="2743200"/>
            <a:ext cx="164592" cy="274320"/>
          </a:xfrm>
          <a:prstGeom prst="rightArrow">
            <a:avLst/>
          </a:prstGeom>
          <a:solidFill>
            <a:srgbClr val="555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31536" y="2286000"/>
            <a:ext cx="1508760" cy="118872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1">
                <a:solidFill>
                  <a:srgbClr val="F2F4F8"/>
                </a:solidFill>
                <a:latin typeface="Calibri"/>
              </a:rPr>
              <a:t>Trf block ×2</a:t>
            </a:r>
          </a:p>
          <a:p>
            <a:pPr algn="ctr"/>
            <a:r>
              <a:rPr sz="1200" b="1">
                <a:solidFill>
                  <a:srgbClr val="F2F4F8"/>
                </a:solidFill>
                <a:latin typeface="Calibri"/>
              </a:rPr>
              <a:t>2 heads, 32 dim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940296" y="2743200"/>
            <a:ext cx="164592" cy="274320"/>
          </a:xfrm>
          <a:prstGeom prst="rightArrow">
            <a:avLst/>
          </a:prstGeom>
          <a:solidFill>
            <a:srgbClr val="555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04888" y="2286000"/>
            <a:ext cx="1508760" cy="118872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1">
                <a:solidFill>
                  <a:srgbClr val="F2F4F8"/>
                </a:solidFill>
                <a:latin typeface="Calibri"/>
              </a:rPr>
              <a:t>LayerNorm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613648" y="2743200"/>
            <a:ext cx="164592" cy="274320"/>
          </a:xfrm>
          <a:prstGeom prst="rightArrow">
            <a:avLst/>
          </a:prstGeom>
          <a:solidFill>
            <a:srgbClr val="555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778240" y="2286000"/>
            <a:ext cx="1508760" cy="118872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1">
                <a:solidFill>
                  <a:srgbClr val="F2F4F8"/>
                </a:solidFill>
                <a:latin typeface="Calibri"/>
              </a:rPr>
              <a:t>Linear(32,1)</a:t>
            </a:r>
          </a:p>
          <a:p>
            <a:pPr algn="ctr"/>
            <a:r>
              <a:rPr sz="1200" b="1">
                <a:solidFill>
                  <a:srgbClr val="F2F4F8"/>
                </a:solidFill>
                <a:latin typeface="Calibri"/>
              </a:rPr>
              <a:t>out head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10287000" y="2743200"/>
            <a:ext cx="164592" cy="274320"/>
          </a:xfrm>
          <a:prstGeom prst="rightArrow">
            <a:avLst/>
          </a:prstGeom>
          <a:solidFill>
            <a:srgbClr val="555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451592" y="2286000"/>
            <a:ext cx="1508760" cy="118872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200" b="1">
                <a:solidFill>
                  <a:srgbClr val="F2F4F8"/>
                </a:solidFill>
                <a:latin typeface="Calibri"/>
              </a:rPr>
              <a:t>Next</a:t>
            </a:r>
          </a:p>
          <a:p>
            <a:pPr algn="ctr"/>
            <a:r>
              <a:rPr sz="1200" b="1">
                <a:solidFill>
                  <a:srgbClr val="F2F4F8"/>
                </a:solidFill>
                <a:latin typeface="Calibri"/>
              </a:rPr>
              <a:t>sample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114800"/>
            <a:ext cx="10515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065A82"/>
                </a:solidFill>
                <a:latin typeface="Calibri"/>
              </a:rPr>
              <a:t>~29,000 parameters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663440"/>
            <a:ext cx="10515600" cy="18288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Differences from GPT: nn.Embedding → Linear(1, 32); softmax head → Linear(32, 1)</a:t>
            </a:r>
          </a:p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Reused from ch04: MultiHeadAttention, TransformerBlock, LayerNorm, GELU, FeedForward</a:t>
            </a:r>
          </a:p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Loss: MSE instead of cross-entropy — the target is a real value, not a class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065A82"/>
                </a:solidFill>
                <a:latin typeface="Calibri"/>
              </a:rPr>
              <a:t>The TL;DR Design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Three DSP-anchored hyperparameters drive everything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112471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6240"/>
                <a:gridCol w="2499360"/>
                <a:gridCol w="2915920"/>
                <a:gridCol w="2915920"/>
                <a:gridCol w="124968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2F4F8"/>
                          </a:solidFill>
                          <a:latin typeface="Calibri"/>
                        </a:rPr>
                        <a:t>Hyperparameter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2F4F8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2F4F8"/>
                          </a:solidFill>
                          <a:latin typeface="Calibri"/>
                        </a:rPr>
                        <a:t>DSP anchor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2F4F8"/>
                          </a:solidFill>
                          <a:latin typeface="Calibri"/>
                        </a:rPr>
                        <a:t>Sizing rule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2F4F8"/>
                          </a:solidFill>
                          <a:latin typeface="Calibri"/>
                        </a:rPr>
                        <a:t>This project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n_heads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Parallel attention patterns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Number of AR taps / lags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≈ effective AR order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context_length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Lookback window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N_FFT — covers slowest period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≈ fs / f_min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head_dim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Q·K discrimination width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Codeword length for positions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≈ 2 · log₂(context_length)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" y="4937760"/>
            <a:ext cx="10607040" cy="1371600"/>
          </a:xfrm>
          <a:prstGeom prst="roundRect">
            <a:avLst/>
          </a:prstGeom>
          <a:solidFill>
            <a:srgbClr val="E8EEF5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074920"/>
            <a:ext cx="103327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65A82"/>
                </a:solidFill>
                <a:latin typeface="Calibri"/>
              </a:rPr>
              <a:t>emb_dim is not a free knob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486400"/>
            <a:ext cx="1033272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emb_dim = n_heads × head_dim = 2 × 16 = 32.  It falls out automatically from the three choices above.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065A82"/>
                </a:solidFill>
                <a:latin typeface="Calibri"/>
              </a:rPr>
              <a:t>Tokenization Is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No tokenizer, no vocab_size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37360"/>
          <a:ext cx="1060703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0388"/>
                <a:gridCol w="4040777"/>
                <a:gridCol w="4545874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Aspect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GPT (text)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This model (signals)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Discrete token IDs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Continuous scalar samples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Embedding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nn.Embedding(vocab_size, 32)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nn.Linear(1, 32)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Vocabulary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~50,000 tokens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Does not exist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Output head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Linear(32, vocab_size) + softmax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Linear(32, 1)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Loss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Cross-entropy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MSE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303520"/>
            <a:ext cx="1051560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555F6D"/>
                </a:solidFill>
                <a:latin typeface="Calibri"/>
              </a:rPr>
              <a:t>The embedding layer's only job: lift a scalar into the 32-D working space</a:t>
            </a:r>
          </a:p>
          <a:p>
            <a:pPr algn="l"/>
            <a:r>
              <a:rPr sz="1500" b="0" i="0">
                <a:solidFill>
                  <a:srgbClr val="555F6D"/>
                </a:solidFill>
                <a:latin typeface="Calibri"/>
              </a:rPr>
              <a:t>where positional embeddings and attention machinery can operate on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065A82"/>
                </a:solidFill>
                <a:latin typeface="Calibri"/>
              </a:rPr>
              <a:t>Are the 32 Dimensions Wasted?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Why a scalar gets a 32-D embedding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Linear(1, 32) produces  e = v · w  for scalar value v and a fixed 32-D vector 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1060704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C7293"/>
                </a:solidFill>
                <a:latin typeface="Calibri"/>
              </a:rPr>
              <a:t>The signal content is rank-1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1060704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All 32 dimensions are perfectly correlated in v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Information content about the sample itself: still 1 scalar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No magic expansion — the embedding just places v on a line in 32-D space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480560"/>
            <a:ext cx="1060704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C7293"/>
                </a:solidFill>
                <a:latin typeface="Calibri"/>
              </a:rPr>
              <a:t>So why 32? For the rest of the machinery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937760"/>
            <a:ext cx="10607040" cy="1554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Positional embeddings live in the same 32-D space — position needs real capacity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Attention's Q/K dot products need room for near-orthogonal patterns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FFN nonlinearity mixes value and position once they share dimensions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065A82"/>
                </a:solidFill>
                <a:latin typeface="Calibri"/>
              </a:rPr>
              <a:t>context_length ≈ N_FFT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Cover the slowest period you care about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065A82"/>
                </a:solidFill>
                <a:latin typeface="Calibri"/>
              </a:rPr>
              <a:t>Invariant:  N_FFT / fs  ≈  1 / f_min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468880"/>
          <a:ext cx="1060703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2829"/>
                <a:gridCol w="2892829"/>
                <a:gridCol w="2892829"/>
                <a:gridCol w="1928552"/>
              </a:tblGrid>
              <a:tr h="5334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Bandwidth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fs (sampling)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N_FFT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LTE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1.4 MHz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1.92 MHz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LTE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5 MHz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7.68 MHz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512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LTE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 MHz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15.36 MHz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LTE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20 MHz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30.72 MHz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2048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This project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 – 20 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 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8521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Same idea: pick the window that captures at least one full cycle of the lowest frequency.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065A82"/>
                </a:solidFill>
                <a:latin typeface="Calibri"/>
              </a:rPr>
              <a:t>n_heads = Lags That Matter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One head per pattern to attend 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C7293"/>
                </a:solidFill>
                <a:latin typeface="Calibri"/>
              </a:rPr>
              <a:t>Heuristic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607040" cy="11887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For AR(p), you want roughly p heads</a:t>
            </a:r>
          </a:p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Each head can specialize on one lag pattern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576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C7293"/>
                </a:solidFill>
                <a:latin typeface="Calibri"/>
              </a:rPr>
              <a:t>This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114800"/>
            <a:ext cx="10607040" cy="20116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Sinusoid = AR(2) ⇒ n_heads = 2</a:t>
            </a:r>
          </a:p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Head 1 learns the lag-1 pattern (weighted by 2 cos ω₀)</a:t>
            </a:r>
          </a:p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Head 2 learns the lag-2 pattern (constant coefficient −1)</a:t>
            </a:r>
          </a:p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Causal mask ensures strictly past-only attention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065A82"/>
                </a:solidFill>
                <a:latin typeface="Calibri"/>
              </a:rPr>
              <a:t>head_dim = Channel 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Q·K match = matched-filter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607040" cy="1463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head_dim is the dimension of the space Q and K live in.</a:t>
            </a:r>
          </a:p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It governs how many distinct positional patterns you can discriminate under noise.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17520"/>
            <a:ext cx="1060704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C7293"/>
                </a:solidFill>
                <a:latin typeface="Calibri"/>
              </a:rPr>
              <a:t>Classical bounds all say the same 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74720"/>
            <a:ext cx="10607040" cy="21031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Shannon capacity:     d ≥ 2R / log₂(1 + SNR)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Spherical code packing:  nearly orthogonal vectors need O(log N) dimensions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BCH / Reed-Muller codes:  redundancy ≈ 2 · information bits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Convergent answer:  head_dim ≈ 2 · log₂(context_length)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1060704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065A82"/>
                </a:solidFill>
                <a:latin typeface="Calibri"/>
              </a:rPr>
              <a:t>This project: 2 · log₂(128) = 14 ≈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065A82"/>
                </a:solidFill>
                <a:latin typeface="Calibri"/>
              </a:rPr>
              <a:t>Why the Analogy Holds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Scaling, spreading, processing gain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C7293"/>
                </a:solidFill>
                <a:latin typeface="Calibri"/>
              </a:rPr>
              <a:t>Attention formula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softmax( Q · Kᵀ / √head_dim ) · 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1060704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C7293"/>
                </a:solidFill>
                <a:latin typeface="Calibri"/>
              </a:rPr>
              <a:t>Interpretation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74720"/>
            <a:ext cx="10607040" cy="3017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Each key vector = a template (like a PN spreading code)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Q · K dot product = matched-filter correlation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1 / √head_dim = processing-gain normalization (variance control)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Longer head_dim  ⇒  less interference between distinct patterns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Softmax = winner-take-all detection after correlation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065A82"/>
                </a:solidFill>
                <a:latin typeface="Calibri"/>
              </a:rPr>
              <a:t>Shannon Sizing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Does head_dim = 16 meet the information bound?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1691640"/>
          <a:ext cx="9966959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4349"/>
                <a:gridCol w="1812174"/>
                <a:gridCol w="4530436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Positions to discriminate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= context_length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Information needed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7 bits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= log₂(128)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Per-dim SNR (assumed)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~1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Training noise level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Bits per dim  (½ log₂(1+SNR))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Shannon per-dim capacity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Minimum head_dim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= 2 · 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Chosen head_dim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Shannon floor × ~1.1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Large LLMs use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~40 – 80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 – 5× safety factor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217920"/>
            <a:ext cx="1060704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Our 16 is snug — deliberate, not generous. Text models need more headroom.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065A82"/>
                </a:solidFill>
                <a:latin typeface="Calibri"/>
              </a:rPr>
              <a:t>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30 epochs on CPU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53035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C7293"/>
                </a:solidFill>
                <a:latin typeface="Calibri"/>
              </a:rPr>
              <a:t>Recipe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5303520" cy="3200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Loss: MSE</a:t>
            </a:r>
          </a:p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Optimizer: AdamW (lr = 1e-3)</a:t>
            </a:r>
          </a:p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Batch size: 32</a:t>
            </a:r>
          </a:p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10 000 fresh sinusoids / epoch</a:t>
            </a:r>
          </a:p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On-the-fly data generation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737360"/>
            <a:ext cx="2560320" cy="137160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25603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CADCFC"/>
                </a:solidFill>
                <a:latin typeface="Calibri"/>
              </a:rPr>
              <a:t>Initial MSE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256032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600" b="1" i="0">
                <a:solidFill>
                  <a:srgbClr val="F2F4F8"/>
                </a:solidFill>
                <a:latin typeface="Calibri"/>
              </a:rPr>
              <a:t>1.40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0" y="1737360"/>
            <a:ext cx="2560320" cy="137160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783080"/>
            <a:ext cx="25603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CADCFC"/>
                </a:solidFill>
                <a:latin typeface="Calibri"/>
              </a:rPr>
              <a:t>Final MSE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103120"/>
            <a:ext cx="256032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600" b="1" i="0">
                <a:solidFill>
                  <a:srgbClr val="F2F4F8"/>
                </a:solidFill>
                <a:latin typeface="Calibri"/>
              </a:rPr>
              <a:t>0.03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291840"/>
            <a:ext cx="2560320" cy="137160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337560"/>
            <a:ext cx="25603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CADCFC"/>
                </a:solidFill>
                <a:latin typeface="Calibri"/>
              </a:rPr>
              <a:t>Output SNR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56032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600" b="1" i="0">
                <a:solidFill>
                  <a:srgbClr val="F2F4F8"/>
                </a:solidFill>
                <a:latin typeface="Calibri"/>
              </a:rPr>
              <a:t>14.8 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251960"/>
            <a:ext cx="25603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000" b="0" i="0">
                <a:solidFill>
                  <a:srgbClr val="CADCFC"/>
                </a:solidFill>
                <a:latin typeface="Calibri"/>
              </a:rPr>
              <a:t>matches naive baseline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3291840"/>
            <a:ext cx="2560320" cy="137160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3337560"/>
            <a:ext cx="25603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CADCFC"/>
                </a:solidFill>
                <a:latin typeface="Calibri"/>
              </a:rPr>
              <a:t>Parameters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3657600"/>
            <a:ext cx="256032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600" b="1" i="0">
                <a:solidFill>
                  <a:srgbClr val="F2F4F8"/>
                </a:solidFill>
                <a:latin typeface="Calibri"/>
              </a:rPr>
              <a:t>29 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69280"/>
            <a:ext cx="1060704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Model learns to predict the next clean sample from noisy history — denoising + AR prediction in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065A82"/>
                </a:solidFill>
                <a:latin typeface="Calibri"/>
              </a:rPr>
              <a:t>Analysis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Does the model really learn AR(2)?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187452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783080"/>
            <a:ext cx="10058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65A82"/>
                </a:solidFill>
                <a:latin typeface="Calibri"/>
              </a:rPr>
              <a:t>Attention heatmaps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402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Peaks at lag 1 and lag 2 — matches AR(2) tap structure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97180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880360"/>
            <a:ext cx="10058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65A82"/>
                </a:solidFill>
                <a:latin typeface="Calibri"/>
              </a:rPr>
              <a:t>Attention-vs-lag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3375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Bar heights track theoretical  2 cos(ω₀)  weights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406908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977640"/>
            <a:ext cx="10058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65A82"/>
                </a:solidFill>
                <a:latin typeface="Calibri"/>
              </a:rPr>
              <a:t>FFT comparison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34840"/>
            <a:ext cx="100584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Output spectrum concentrates at true frequency, noise suppressed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516636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074920"/>
            <a:ext cx="10058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65A82"/>
                </a:solidFill>
                <a:latin typeface="Calibri"/>
              </a:rPr>
              <a:t>Autoregressive generation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532120"/>
            <a:ext cx="100584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Seeding with noisy samples yields clean sinusoid continuation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065A82"/>
                </a:solidFill>
                <a:latin typeface="Calibri"/>
              </a:rPr>
              <a:t>Performance vs Input SNR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Original 29 K model, easy-noise training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607038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1852"/>
                <a:gridCol w="1631852"/>
                <a:gridCol w="2447778"/>
                <a:gridCol w="2447778"/>
                <a:gridCol w="2447778"/>
              </a:tblGrid>
              <a:tr h="49638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amp_std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phase_std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Input SNR (dB)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Output SNR (dB)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Gain (dB)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3.05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17.31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+14.26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0.20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2.85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14.65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+11.80  (training)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0.40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0.20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2.14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9.61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+7.47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0.30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1.17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5.90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+4.72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0.40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0.12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3.26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+3.14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-0.93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1.37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+2.30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486400"/>
            <a:ext cx="1060704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Gain collapses out-of-distribution. Two effects: harder physical task + train/test mismatch.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065A82"/>
                </a:solidFill>
                <a:latin typeface="Calibri"/>
              </a:rPr>
              <a:t>Tweaking for Low SNR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Retrain at hard noise (input SNR ≈ 0 dB)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6070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3720"/>
                <a:gridCol w="3977640"/>
                <a:gridCol w="1325880"/>
                <a:gridCol w="22098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Arch (ctx / emb / heads / layers)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Params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Gain (dB)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Original (no retrain)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128 / 32 / 2 /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29 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+3.14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Same arch, retrained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128 / 32 / 2 / 2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29 K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+3.69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Scaled arch, retrained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256 / 72 / 4 / 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208 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+6.00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1148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C7293"/>
                </a:solidFill>
                <a:latin typeface="Calibri"/>
              </a:rPr>
              <a:t>DSP-grounded tuning rules at low SNR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572000"/>
            <a:ext cx="10607040" cy="21031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context_length ↑   — extra √k noise averaging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n_heads ↑              — add smoothing/MA heads beyond AR taps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n_layers ↑              — depth for iterative denoising refinement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head_dim follows 2·log₂(context_length); emb_dim falls out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Match training noise to deployment noise; use mixed-σ curriculum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065A82"/>
                </a:solidFill>
                <a:latin typeface="Calibri"/>
              </a:rPr>
              <a:t>FFT Embedding — Head-to-Head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Replace Linear(1, 32) with sliding-window FFT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Both models ~30 K params; only the input embedding differs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1060704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1C7293"/>
                </a:solidFill>
                <a:latin typeface="Calibri"/>
              </a:rPr>
              <a:t>Easy noise  (amp_std=0.2, phase_std=0.1) — 8 epochs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697480"/>
          <a:ext cx="1060704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5680"/>
                <a:gridCol w="1767840"/>
                <a:gridCol w="2651760"/>
                <a:gridCol w="2651760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Variant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Params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Out SNR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Gain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Scalar Linear(1, 32)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29,473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9.92 dB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+7.31 dB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FFT sliding window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30,529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16.39 dB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+13.78 dB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" y="4114800"/>
            <a:ext cx="1060704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1C7293"/>
                </a:solidFill>
                <a:latin typeface="Calibri"/>
              </a:rPr>
              <a:t>Hard noise  (amp_std=0.8, phase_std=0.4) — 10 epochs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4526280"/>
          <a:ext cx="106070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5680"/>
                <a:gridCol w="1767840"/>
                <a:gridCol w="2651760"/>
                <a:gridCol w="2651760"/>
              </a:tblGrid>
              <a:tr h="3886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Variant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Params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Out SNR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Gain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Scalar Linear(1, 32)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29,473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3.81 dB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+3.69 dB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FFT sliding window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30,529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9.12 dB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+9.00 dB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Scalar SCALED (208 K)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207,577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5.85 dB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+6.00 dB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7240" y="62636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FFT at 30 K beats the scaled scalar model at 208 K by +3 dB.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065A82"/>
                </a:solidFill>
                <a:latin typeface="Calibri"/>
              </a:rPr>
              <a:t>Why the FFT Front-End 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A near-diagonal representation of the task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Token at position t = Linear( rfft( x[t-W+1 : t+1] ) ),  W = 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1060704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C7293"/>
                </a:solidFill>
                <a:latin typeface="Calibri"/>
              </a:rPr>
              <a:t>What changes for the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10607040" cy="21031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A pure sinusoid is a delta in the frequency domain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Each token already encodes the local spectrum of the last 32 samples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Noisy input becomes a peak-plus-noise-floor in each token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The transformer's job collapses to peak-tracking and bin interpolation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Equivalent to many parallel matched filters before attention even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1206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C7293"/>
                </a:solidFill>
                <a:latin typeface="Calibri"/>
              </a:rPr>
              <a:t>Trade-offs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577840"/>
            <a:ext cx="10607040" cy="11887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Inference overhead of sliding FFT is negligible (~160 MACs/sample)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Strong inductive bias — best for stationary/periodic signals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Window size W is a classical STFT trade-off (frequency vs time resolution)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5156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800" b="1" i="0">
                <a:solidFill>
                  <a:srgbClr val="F2F4F8"/>
                </a:solidFill>
                <a:latin typeface="Calibri"/>
              </a:rPr>
              <a:t>Key 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5156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Three DSP-anchored hyperparameters define the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834640"/>
            <a:ext cx="10332720" cy="82296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017520"/>
            <a:ext cx="3200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Calibri"/>
              </a:rPr>
              <a:t>n_heads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3017520"/>
            <a:ext cx="6400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F2F4F8"/>
                </a:solidFill>
                <a:latin typeface="Calibri"/>
              </a:rPr>
              <a:t>≈  effective AR order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794760"/>
            <a:ext cx="10332720" cy="82296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977640"/>
            <a:ext cx="3200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Calibri"/>
              </a:rPr>
              <a:t>context_length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977640"/>
            <a:ext cx="6400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F2F4F8"/>
                </a:solidFill>
                <a:latin typeface="Calibri"/>
              </a:rPr>
              <a:t>≈  N_FFT  ≈  fs / f_min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754880"/>
            <a:ext cx="10332720" cy="82296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4937760"/>
            <a:ext cx="3200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Calibri"/>
              </a:rPr>
              <a:t>head_dim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937760"/>
            <a:ext cx="6400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F2F4F8"/>
                </a:solidFill>
                <a:latin typeface="Calibri"/>
              </a:rPr>
              <a:t>≈  2 · log₂(context_length)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943600"/>
            <a:ext cx="105156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CADCFC"/>
                </a:solidFill>
                <a:latin typeface="Calibri"/>
              </a:rPr>
              <a:t>emb_dim falls out.  The framing generalizes to many signal-processing tasks.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