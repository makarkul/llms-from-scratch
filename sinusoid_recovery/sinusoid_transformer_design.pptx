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2" y="22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515600" cy="1463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4400" b="1" i="0">
                <a:solidFill>
                  <a:srgbClr val="F2F4F8"/>
                </a:solidFill>
                <a:latin typeface="Calibri"/>
              </a:rPr>
              <a:t>Sinusoid Recovery with a Tiny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400" b="0" i="0">
                <a:solidFill>
                  <a:srgbClr val="CADCFC"/>
                </a:solidFill>
                <a:latin typeface="Calibri"/>
              </a:rPr>
              <a:t>A DSP-to-Transformer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97ACC7"/>
                </a:solidFill>
                <a:latin typeface="Calibri"/>
              </a:rPr>
              <a:t>Design notes: AR modeling, attention, and channel-coding intuitions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Classical DSP and transformers — the same job?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394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Classical DSP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394960" cy="3657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 dirty="0">
                <a:solidFill>
                  <a:srgbClr val="1A1A1A"/>
                </a:solidFill>
                <a:latin typeface="Calibri"/>
              </a:rPr>
              <a:t>• Fit AR / MA / ARMA models to a time series</a:t>
            </a:r>
          </a:p>
          <a:p>
            <a:pPr algn="l"/>
            <a:r>
              <a:rPr sz="1500" b="0" i="0" dirty="0">
                <a:solidFill>
                  <a:srgbClr val="1A1A1A"/>
                </a:solidFill>
                <a:latin typeface="Calibri"/>
              </a:rPr>
              <a:t>• PACF determines the AR order p</a:t>
            </a:r>
          </a:p>
          <a:p>
            <a:pPr algn="l"/>
            <a:r>
              <a:rPr sz="1500" b="0" i="0" dirty="0">
                <a:solidFill>
                  <a:srgbClr val="1A1A1A"/>
                </a:solidFill>
                <a:latin typeface="Calibri"/>
              </a:rPr>
              <a:t>• Coefficients fit by Yule-Walker or least squares</a:t>
            </a:r>
          </a:p>
          <a:p>
            <a:pPr algn="l"/>
            <a:r>
              <a:rPr sz="1500" b="0" i="0" dirty="0">
                <a:solidFill>
                  <a:srgbClr val="1A1A1A"/>
                </a:solidFill>
                <a:latin typeface="Calibri"/>
              </a:rPr>
              <a:t>• Prediction = linear combination of past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394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Transformer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94960" cy="3657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Train to predict next sample from a context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Self-attention weights pick which lags matter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Coefficients learned via gradient descent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Thesis: attention should rediscover AR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5156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 i="0">
                <a:solidFill>
                  <a:srgbClr val="065A82"/>
                </a:solidFill>
                <a:latin typeface="Calibri"/>
              </a:rPr>
              <a:t>If the thesis holds, a tiny transformer is just an AR model in disguise.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Key DSP 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A sinusoid is exactly an AR(2)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103120"/>
            <a:ext cx="9418320" cy="146304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331720"/>
            <a:ext cx="9418320" cy="10058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3200" b="1" i="0">
                <a:solidFill>
                  <a:srgbClr val="F2F4F8"/>
                </a:solidFill>
                <a:latin typeface="Calibri"/>
              </a:rPr>
              <a:t>x[n] = 2 cos(w0) · x[n-1]  −  x[n-2]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105156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What this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10515600" cy="22860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Only two past samples carry information — lag-1 and lag-2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The single coefficient  2 cos(w0)  encodes frequency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The model needs only 2 effective taps, regardless of freq</a:t>
            </a:r>
          </a:p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• This sets a hard lower bound on how tiny the network can be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Problem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Noisy sinusoid → clean next-sample prediction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Value / Range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 – 20 Hz (uniform)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 – 2.0 (uniform)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 – 2π (uniform)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Randomized per sequence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Sampling rate fs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Fixed, well above Nyquist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Amplitude noise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σ = 0.2 (Gaussian)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Corrupts amplitude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Phase noise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σ = 0.1 rad (Gaussian)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Corrupts phase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Context length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 samples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≈ 1 period at f_min = 1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943600"/>
            <a:ext cx="105156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065A82"/>
                </a:solidFill>
                <a:latin typeface="Calibri"/>
              </a:rPr>
              <a:t>Task: given 128 noisy samples, predict the next clean sample — at every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Scalar in → embed → 2 transformer blocks → scalar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286000"/>
            <a:ext cx="1508760" cy="1188720"/>
          </a:xfrm>
          <a:prstGeom prst="roundRect">
            <a:avLst/>
          </a:prstGeom>
          <a:solidFill>
            <a:srgbClr val="B8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Scalar</a:t>
            </a:r>
          </a:p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sample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0240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084832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Linear(1,32)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input proj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593592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58184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+ pos emb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(128×32)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266944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31536" y="2286000"/>
            <a:ext cx="1508760" cy="11887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Trf block ×2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2 heads, 32 dim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40296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104888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LayerNorm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613648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778240" y="2286000"/>
            <a:ext cx="1508760" cy="118872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Linear(32,1)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out head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287000" y="2743200"/>
            <a:ext cx="164592" cy="274320"/>
          </a:xfrm>
          <a:prstGeom prst="rightArrow">
            <a:avLst/>
          </a:prstGeom>
          <a:solidFill>
            <a:srgbClr val="555F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51592" y="2286000"/>
            <a:ext cx="1508760" cy="118872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Next</a:t>
            </a:r>
          </a:p>
          <a:p>
            <a:pPr algn="ctr"/>
            <a:r>
              <a:rPr sz="1200" b="1">
                <a:solidFill>
                  <a:srgbClr val="F2F4F8"/>
                </a:solidFill>
                <a:latin typeface="Calibri"/>
              </a:rPr>
              <a:t>sample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105156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Calibri"/>
              </a:rPr>
              <a:t>~29,000 parameters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10515600" cy="1828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Differences from GPT: nn.Embedding → Linear(1, 32); softmax head → Linear(32, 1)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Reused from ch04: MultiHeadAttention, TransformerBlock, LayerNorm, GELU, FeedForward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Loss: MSE instead of cross-entropy — the target is a real value, not a class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The TL;DR Design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Three DSP-anchored hyperparameters drive everything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07040" cy="1371600"/>
          </a:xfrm>
          <a:prstGeom prst="roundRect">
            <a:avLst/>
          </a:prstGeom>
          <a:solidFill>
            <a:srgbClr val="E8EEF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emb_dim is not a free knob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emb_dim = n_heads × head_dim = 2 × 16 = 32.  It falls out automatically from the three choices above.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9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2F4F8"/>
                          </a:solidFill>
                          <a:latin typeface="Calibri"/>
                        </a:rPr>
                        <a:t>Hyperparameter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DSP anchor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Sizing rule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F4F8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n_heads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Parallel attention patterns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Number of AR taps / lags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effective AR order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context_length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Lookback window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N_FFT — covers slowest period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fs / f_min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head_dim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Q·K discrimination width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Codeword length for positions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≈ 2 · log₂(context_length)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Tokenization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No tokenizer, no vocab_size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37360"/>
          <a:ext cx="106070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0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58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GPT (text)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This model (signals)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Discrete token IDs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Continuous scalar samples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nn.Embedding(vocab_size, 32)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nn.Linear(1, 32)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~50,000 tokens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Does not exist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Output head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Linear(32, vocab_size) + softmax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Linear(32, 1)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Cross-entropy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03520"/>
            <a:ext cx="1051560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555F6D"/>
                </a:solidFill>
                <a:latin typeface="Calibri"/>
              </a:rPr>
              <a:t>The embedding layer's only job: lift a scalar into the 32-D working space</a:t>
            </a:r>
          </a:p>
          <a:p>
            <a:pPr algn="l"/>
            <a:r>
              <a:rPr sz="1500" b="0" i="0">
                <a:solidFill>
                  <a:srgbClr val="555F6D"/>
                </a:solidFill>
                <a:latin typeface="Calibri"/>
              </a:rPr>
              <a:t>where positional embeddings and attention machinery can operate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Are the 32 Dimensions Wasted?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Why a scalar gets a 32-D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Linear(1, 32) produces  e = v · w  for scalar value v and a fixed 32-D vector 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The signal content is rank-1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07040" cy="1371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All 32 dimensions are perfectly correlated in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Information content about the sample itself: still 1 scalar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No magic expansion — the embedding just places v on a line in 32-D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So why 32? For the rest of the machinery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106070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Positional embeddings live in the same 32-D space — position needs real capacity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Attention's Q/K dot products need room for near-orthogonal patterns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FFN nonlinearity mixes value and position once they share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context_length ≈ N_FFT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Cover the slowest period you care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Calibri"/>
              </a:rPr>
              <a:t>Invariant:  N_FFT / fs  ≈  1 / f_min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468880"/>
          <a:ext cx="106070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2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2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2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8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Bandwidth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fs (sampling)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N_FFT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1.4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1.92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7.68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15.36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LTE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30.72 MHz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This project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 – 20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 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Same idea: pick the window that captures at least one full cycle of the lowest frequency.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n_heads = Lags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One head per pattern to attend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Heuristic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0607040" cy="11887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For AR(p), you want roughly p heads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Each head can specialize on one lag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This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10607040" cy="2011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Sinusoid = AR(2) ⇒ n_heads = 2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Head 1 learns the lag-1 pattern (weighted by 2 cos ω₀)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Head 2 learns the lag-2 pattern (constant coefficient −1)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Causal mask ensures strictly past-only attention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head_dim = Channel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Q·K match = matched-filter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463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head_dim is the dimension of the space Q and K live in.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It governs how many distinct positional patterns you can discriminate under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Classical bounds all say the same 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74720"/>
            <a:ext cx="10607040" cy="2103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Shannon capacity:     d ≥ 2R / log₂(1 + SNR)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Spherical code packing:  nearly orthogonal vectors need O(log N) dimensions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BCH / Reed-Muller codes:  redundancy ≈ 2 · information bits</a:t>
            </a:r>
          </a:p>
          <a:p>
            <a:pPr algn="l"/>
            <a:endParaRPr sz="1400" b="0" i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Convergent answer:  head_dim ≈ 2 · log₂(context_length)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libri"/>
              </a:rPr>
              <a:t>This project: 2 · log₂(128) = 14 ≈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Why the Analogy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Scaling, spreading, processing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Attention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06070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softmax( Q · Kᵀ / √head_dim ) ·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74720"/>
            <a:ext cx="10607040" cy="3017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Each key vector = a template (like a PN spreading code)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Q · K dot product = matched-filter correlation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1 / √head_dim = processing-gain normalization (variance control)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Longer head_dim  ⇒  less interference between distinct patterns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• Softmax = winner-take-all detection after correlation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Shannon Sizing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Does head_dim = 16 meet the information bound?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691640"/>
          <a:ext cx="99669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3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2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30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2F4F8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73152" marR="73152" marT="36576" marB="36576"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Positions to discriminate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context_length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Information needed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 bits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log₂(128)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Per-dim SNR (assumed)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Training noise level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Bits per dim  (½ log₂(1+SNR))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Shannon per-dim capacity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Minimum head_dim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= 2 · 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Chosen head_dim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Shannon floor × ~1.1</a:t>
                      </a:r>
                    </a:p>
                  </a:txBody>
                  <a:tcPr marL="73152" marR="73152" marT="36576" marB="36576"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Large LLMs use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~40 – 80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 – 5× safety factor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217920"/>
            <a:ext cx="1060704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Our 16 is snug — deliberate, not generous. Text models need more headroom.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30 epochs on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3035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1" i="0">
                <a:solidFill>
                  <a:srgbClr val="1C7293"/>
                </a:solidFill>
                <a:latin typeface="Calibri"/>
              </a:rP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303520" cy="3200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Loss: MSE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Optimizer: AdamW (lr = 1e-3)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Batch size: 32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10 000 fresh sinusoids / epoch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On-the-fly data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Initial 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256032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1.40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73736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0" y="178308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Final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56032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0.03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29184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Output SNR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256032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14.8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5196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matches naive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291840"/>
            <a:ext cx="2560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0" y="3337560"/>
            <a:ext cx="2560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  <a:latin typeface="Calibri"/>
              </a:rPr>
              <a:t>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657600"/>
            <a:ext cx="256032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2600" b="1" i="0">
                <a:solidFill>
                  <a:srgbClr val="F2F4F8"/>
                </a:solidFill>
                <a:latin typeface="Calibri"/>
              </a:rPr>
              <a:t>29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60704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Model learns to predict the next clean sample from noisy history — denoising + AR prediction in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000" b="1" i="0">
                <a:solidFill>
                  <a:srgbClr val="065A82"/>
                </a:solidFill>
                <a:latin typeface="Calibri"/>
              </a:rPr>
              <a:t>Analysis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555F6D"/>
                </a:solidFill>
                <a:latin typeface="Calibri"/>
              </a:rPr>
              <a:t>Does the model really learn AR(2)?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78308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Attention heatmaps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40280"/>
            <a:ext cx="100584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Peaks at lag 1 and lag 2 — matches AR(2) tap structure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718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Attention-vs-lag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337560"/>
            <a:ext cx="100584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Bar heights track theoretical  2 cos(ω₀)  weights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97764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FFT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434840"/>
            <a:ext cx="100584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Output spectrum concentrates at true frequency, noise suppressed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074920"/>
            <a:ext cx="10058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Autoregressive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32120"/>
            <a:ext cx="100584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Seeding with noisy samples yields clean sinusoid continuation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51560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3800" b="1" i="0">
                <a:solidFill>
                  <a:srgbClr val="F2F4F8"/>
                </a:solidFill>
                <a:latin typeface="Calibri"/>
              </a:rP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Three DSP-anchored hyperparameters define the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83464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301752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n_heads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017520"/>
            <a:ext cx="6400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effective AR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9476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97764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context_length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40"/>
            <a:ext cx="6400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N_FFT  ≈  fs / f_min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54880"/>
            <a:ext cx="10332720" cy="8229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937760"/>
            <a:ext cx="32004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head_dim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640080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0" i="0">
                <a:solidFill>
                  <a:srgbClr val="F2F4F8"/>
                </a:solidFill>
                <a:latin typeface="Calibri"/>
              </a:rPr>
              <a:t>≈  2 · log₂(context_length)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5156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emb_dim falls out.  The framing generalizes to many signal-processing tasks.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1417</Words>
  <Application>Microsoft Office PowerPoint</Application>
  <PresentationFormat>Widescreen</PresentationFormat>
  <Paragraphs>250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Makarand Kulkarni</cp:lastModifiedBy>
  <cp:revision>2</cp:revision>
  <dcterms:created xsi:type="dcterms:W3CDTF">2013-01-27T09:14:16Z</dcterms:created>
  <dcterms:modified xsi:type="dcterms:W3CDTF">2026-04-14T05:28:46Z</dcterms:modified>
  <cp:category/>
</cp:coreProperties>
</file>